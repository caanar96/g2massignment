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82" r:id="rId13"/>
    <p:sldId id="281" r:id="rId14"/>
    <p:sldId id="280" r:id="rId15"/>
    <p:sldId id="279" r:id="rId16"/>
    <p:sldId id="283" r:id="rId17"/>
    <p:sldId id="284" r:id="rId18"/>
    <p:sldId id="285" r:id="rId19"/>
    <p:sldId id="286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3B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0061F-BFDE-7175-2EDA-F472504290F4}" v="789" dt="2020-12-24T05:43:13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56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3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73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8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2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21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47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81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47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0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20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71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CC22B5-8500-2C45-91DE-A596A6DF1C3B}"/>
              </a:ext>
            </a:extLst>
          </p:cNvPr>
          <p:cNvSpPr txBox="1"/>
          <p:nvPr/>
        </p:nvSpPr>
        <p:spPr>
          <a:xfrm>
            <a:off x="870857" y="2380343"/>
            <a:ext cx="11061554" cy="3385542"/>
          </a:xfrm>
          <a:prstGeom prst="rect">
            <a:avLst/>
          </a:prstGeom>
          <a:solidFill>
            <a:srgbClr val="3B3B3B"/>
          </a:solidFill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rgbClr val="FF6600"/>
                </a:solidFill>
              </a:rPr>
              <a:t>G2M insight for Cab Investment</a:t>
            </a:r>
          </a:p>
          <a:p>
            <a:r>
              <a:rPr lang="en-US" sz="4000" dirty="0"/>
              <a:t>Virtual Internship </a:t>
            </a:r>
          </a:p>
          <a:p>
            <a:endParaRPr lang="en-US" sz="4000" dirty="0"/>
          </a:p>
          <a:p>
            <a:r>
              <a:rPr lang="en-US" sz="4000" dirty="0"/>
              <a:t>By: Camilo Arrieta</a:t>
            </a:r>
          </a:p>
          <a:p>
            <a:r>
              <a:rPr lang="en-US" sz="2800" b="1" dirty="0"/>
              <a:t>25-Feb-2021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F26E-9345-4747-9094-972E38700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-562431" y="562430"/>
            <a:ext cx="6858002" cy="5733142"/>
          </a:xfrm>
          <a:solidFill>
            <a:srgbClr val="3B3B3B"/>
          </a:solidFill>
        </p:spPr>
        <p:txBody>
          <a:bodyPr vert="vert270" anchor="t" anchorCtr="0"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>
                <a:solidFill>
                  <a:srgbClr val="FF6600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3D5A6-E766-7C41-BD00-B22DA4727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5400000">
            <a:off x="5533569" y="199573"/>
            <a:ext cx="6858004" cy="6458857"/>
          </a:xfrm>
        </p:spPr>
        <p:txBody>
          <a:bodyPr vert="vert270">
            <a:normAutofit/>
          </a:bodyPr>
          <a:lstStyle/>
          <a:p>
            <a:endParaRPr lang="en-US" dirty="0">
              <a:solidFill>
                <a:srgbClr val="FF6600"/>
              </a:solidFill>
            </a:endParaRPr>
          </a:p>
          <a:p>
            <a:pPr algn="just"/>
            <a:r>
              <a:rPr lang="en-US" dirty="0">
                <a:solidFill>
                  <a:srgbClr val="FF6600"/>
                </a:solidFill>
              </a:rPr>
              <a:t>   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Executive Summary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Problem Statement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Approach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Hypotheses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Analyses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EDA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EDA Summary</a:t>
            </a:r>
          </a:p>
          <a:p>
            <a:pPr algn="just"/>
            <a:r>
              <a:rPr lang="en-US" sz="2800" dirty="0">
                <a:solidFill>
                  <a:srgbClr val="FF6600"/>
                </a:solidFill>
              </a:rPr>
              <a:t>         Recommendations</a:t>
            </a:r>
          </a:p>
          <a:p>
            <a:endParaRPr lang="en-US" sz="3200" dirty="0">
              <a:solidFill>
                <a:srgbClr val="FF6600"/>
              </a:solidFill>
            </a:endParaRPr>
          </a:p>
          <a:p>
            <a:endParaRPr lang="en-US" dirty="0">
              <a:solidFill>
                <a:srgbClr val="FF6600"/>
              </a:solidFill>
            </a:endParaRPr>
          </a:p>
          <a:p>
            <a:endParaRPr lang="en-US" dirty="0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55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</a:t>
            </a:r>
            <a:r>
              <a:rPr lang="es-CO" dirty="0" err="1"/>
              <a:t>Executive</a:t>
            </a:r>
            <a:r>
              <a:rPr lang="es-CO" dirty="0"/>
              <a:t> </a:t>
            </a:r>
            <a:r>
              <a:rPr lang="es-CO" dirty="0" err="1"/>
              <a:t>Summary</a:t>
            </a:r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D48ED4-A198-4FE9-8729-7B5617D05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Lato Extended"/>
              </a:rPr>
              <a:t>XYZ is a private firm in US. </a:t>
            </a:r>
          </a:p>
          <a:p>
            <a:r>
              <a:rPr lang="en-US" b="0" i="0" dirty="0">
                <a:effectLst/>
                <a:latin typeface="Lato Extended"/>
              </a:rPr>
              <a:t>Due to remarkable growth in the Cab Industry in last few years and multiple key players in the market, it is planning for an investment in Cab industry.</a:t>
            </a:r>
          </a:p>
          <a:p>
            <a:r>
              <a:rPr lang="en-US" dirty="0">
                <a:latin typeface="Lato Extended"/>
              </a:rPr>
              <a:t>Following</a:t>
            </a:r>
            <a:r>
              <a:rPr lang="en-US" b="0" i="0" dirty="0">
                <a:effectLst/>
                <a:latin typeface="Lato Extended"/>
              </a:rPr>
              <a:t> their Go-to-Market(G2M) strategy they want to understand the market before taking final decision.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1288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</a:t>
            </a:r>
            <a:r>
              <a:rPr lang="es-CO" dirty="0" err="1"/>
              <a:t>Problem</a:t>
            </a:r>
            <a:r>
              <a:rPr lang="es-CO" dirty="0"/>
              <a:t> </a:t>
            </a:r>
            <a:r>
              <a:rPr lang="es-CO" dirty="0" err="1"/>
              <a:t>Statement</a:t>
            </a:r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D48ED4-A198-4FE9-8729-7B5617D05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Lato Extended"/>
              </a:rPr>
              <a:t>Using the multiple datasets provided by the client as well as other useful sources, the objective is to provide meaningful insights to help XYZ firm in </a:t>
            </a:r>
            <a:r>
              <a:rPr lang="en-US" dirty="0">
                <a:latin typeface="Lato Extended"/>
              </a:rPr>
              <a:t>selecting the best Cab company for their investment.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0487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</a:t>
            </a:r>
            <a:r>
              <a:rPr lang="es-CO" dirty="0" err="1"/>
              <a:t>Approach</a:t>
            </a:r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D48ED4-A198-4FE9-8729-7B5617D05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Lato Extended"/>
              </a:rPr>
              <a:t>Understand the purpose and content of each dataset.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Lato Extended"/>
              </a:rPr>
              <a:t>Join all datasets to perform EDA and modeling/hypothesis testing.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Lato Extended"/>
              </a:rPr>
              <a:t>Clean final dataset (remove NA’s, duplicates, transform variables if necessary)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Lato Extended"/>
              </a:rPr>
              <a:t>Perform EDA analyses and test the provided hypotheses.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1108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</a:t>
            </a:r>
            <a:r>
              <a:rPr lang="es-CO" dirty="0" err="1"/>
              <a:t>Hypotheses</a:t>
            </a:r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D48ED4-A198-4FE9-8729-7B5617D05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One company has provided Cab services to more Customers than the other.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company has a higher profit than the other.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margin increases proportionally to the increase in the number of customers.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Different segments of Customers have different attributes.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We can predict Profit from KM Travelled by each company.</a:t>
            </a:r>
          </a:p>
        </p:txBody>
      </p:sp>
    </p:spTree>
    <p:extLst>
      <p:ext uri="{BB962C8B-B14F-4D97-AF65-F5344CB8AC3E}">
        <p14:creationId xmlns:p14="http://schemas.microsoft.com/office/powerpoint/2010/main" val="40157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</a:t>
            </a:r>
            <a:r>
              <a:rPr lang="es-CO" dirty="0" err="1"/>
              <a:t>Analyses</a:t>
            </a:r>
            <a:endParaRPr lang="es-CO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D48ED4-A198-4FE9-8729-7B5617D05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s-CO" dirty="0" err="1"/>
              <a:t>Exploratory</a:t>
            </a:r>
            <a:r>
              <a:rPr lang="es-CO" dirty="0"/>
              <a:t> Data </a:t>
            </a:r>
            <a:r>
              <a:rPr lang="es-CO" dirty="0" err="1"/>
              <a:t>Analysis</a:t>
            </a:r>
            <a:r>
              <a:rPr lang="es-CO" dirty="0"/>
              <a:t> (data </a:t>
            </a:r>
            <a:r>
              <a:rPr lang="es-CO" dirty="0" err="1"/>
              <a:t>understanding</a:t>
            </a:r>
            <a:r>
              <a:rPr lang="es-CO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Forecasting</a:t>
            </a:r>
            <a:r>
              <a:rPr lang="es-CO" dirty="0"/>
              <a:t> </a:t>
            </a:r>
            <a:r>
              <a:rPr lang="es-CO" dirty="0" err="1"/>
              <a:t>profit</a:t>
            </a:r>
            <a:r>
              <a:rPr lang="es-CO" dirty="0"/>
              <a:t> and </a:t>
            </a:r>
            <a:r>
              <a:rPr lang="es-CO" dirty="0" err="1"/>
              <a:t>number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rides</a:t>
            </a:r>
            <a:r>
              <a:rPr lang="es-CO" dirty="0"/>
              <a:t> </a:t>
            </a:r>
            <a:r>
              <a:rPr lang="es-CO" dirty="0" err="1"/>
              <a:t>for</a:t>
            </a:r>
            <a:r>
              <a:rPr lang="es-CO" dirty="0"/>
              <a:t> </a:t>
            </a:r>
            <a:r>
              <a:rPr lang="es-CO" dirty="0" err="1"/>
              <a:t>each</a:t>
            </a:r>
            <a:r>
              <a:rPr lang="es-CO" dirty="0"/>
              <a:t> Company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Finding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most</a:t>
            </a:r>
            <a:r>
              <a:rPr lang="es-CO" dirty="0"/>
              <a:t> </a:t>
            </a:r>
            <a:r>
              <a:rPr lang="es-CO" dirty="0" err="1"/>
              <a:t>profitable</a:t>
            </a:r>
            <a:r>
              <a:rPr lang="es-CO" dirty="0"/>
              <a:t> </a:t>
            </a:r>
            <a:r>
              <a:rPr lang="es-CO" dirty="0" err="1"/>
              <a:t>Cab</a:t>
            </a:r>
            <a:r>
              <a:rPr lang="es-CO" dirty="0"/>
              <a:t> </a:t>
            </a:r>
            <a:r>
              <a:rPr lang="es-CO" dirty="0" err="1"/>
              <a:t>company</a:t>
            </a:r>
            <a:endParaRPr lang="es-CO" dirty="0"/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Recommendations</a:t>
            </a:r>
            <a:r>
              <a:rPr lang="es-CO" dirty="0"/>
              <a:t> </a:t>
            </a:r>
            <a:r>
              <a:rPr lang="es-CO" dirty="0" err="1"/>
              <a:t>for</a:t>
            </a:r>
            <a:r>
              <a:rPr lang="es-CO" dirty="0"/>
              <a:t> </a:t>
            </a:r>
            <a:r>
              <a:rPr lang="es-CO" dirty="0" err="1"/>
              <a:t>investment</a:t>
            </a:r>
            <a:endParaRPr lang="es-CO" dirty="0"/>
          </a:p>
          <a:p>
            <a:pPr marL="514350" indent="-514350">
              <a:buFont typeface="+mj-lt"/>
              <a:buAutoNum type="arabicPeriod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81709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EDA (</a:t>
            </a:r>
            <a:r>
              <a:rPr lang="es-CO" dirty="0" err="1"/>
              <a:t>Exploring</a:t>
            </a:r>
            <a:r>
              <a:rPr lang="es-CO" dirty="0"/>
              <a:t> data)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5D48ED4-A198-4FE9-8729-7B5617D05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To have in mind: </a:t>
            </a:r>
          </a:p>
          <a:p>
            <a:pPr lvl="1"/>
            <a:r>
              <a:rPr lang="en-US"/>
              <a:t>The data corresponds to the period 31-Jan-2016 to 29-Jan-2019.</a:t>
            </a:r>
          </a:p>
          <a:p>
            <a:pPr lvl="1"/>
            <a:r>
              <a:rPr lang="en-US"/>
              <a:t>There were no missing values nor duplicates in the final data set.</a:t>
            </a:r>
          </a:p>
        </p:txBody>
      </p:sp>
    </p:spTree>
    <p:extLst>
      <p:ext uri="{BB962C8B-B14F-4D97-AF65-F5344CB8AC3E}">
        <p14:creationId xmlns:p14="http://schemas.microsoft.com/office/powerpoint/2010/main" val="2712322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EDA (</a:t>
            </a:r>
            <a:r>
              <a:rPr lang="es-CO" dirty="0" err="1"/>
              <a:t>Exploring</a:t>
            </a:r>
            <a:r>
              <a:rPr lang="es-CO" dirty="0"/>
              <a:t> data)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DA2D4F-A6D9-406A-AA7A-314163B63BC0}"/>
              </a:ext>
            </a:extLst>
          </p:cNvPr>
          <p:cNvSpPr txBox="1"/>
          <p:nvPr/>
        </p:nvSpPr>
        <p:spPr>
          <a:xfrm>
            <a:off x="563671" y="5249738"/>
            <a:ext cx="44342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can be seen, the </a:t>
            </a:r>
            <a:r>
              <a:rPr lang="en-US" b="1" dirty="0"/>
              <a:t>Yellow Cab </a:t>
            </a:r>
            <a:r>
              <a:rPr lang="en-US" dirty="0"/>
              <a:t>Company has covered more customers on all years. This, along with a statistically significant Binomial Test, confirms that Yellow Cab covered more customers (Hypothesis 1).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42B7E3C-2C77-4B2C-9282-C06EA87AB5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616" t="44544" r="39180" b="18575"/>
          <a:stretch/>
        </p:blipFill>
        <p:spPr>
          <a:xfrm>
            <a:off x="563671" y="1608262"/>
            <a:ext cx="5010411" cy="343972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5E1C10C-547D-461A-AA00-D14436127A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647" t="33166" r="42697" b="24842"/>
          <a:stretch/>
        </p:blipFill>
        <p:spPr>
          <a:xfrm>
            <a:off x="6225435" y="1608262"/>
            <a:ext cx="5402893" cy="478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814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D424E6A-3E65-4630-8510-830B79E798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535" t="36523" r="21507" b="5914"/>
          <a:stretch/>
        </p:blipFill>
        <p:spPr>
          <a:xfrm>
            <a:off x="396656" y="1653436"/>
            <a:ext cx="5315212" cy="478369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C75F7A5-7CBC-4EA3-8FC3-70B0FFB2954D}"/>
              </a:ext>
            </a:extLst>
          </p:cNvPr>
          <p:cNvSpPr txBox="1"/>
          <p:nvPr/>
        </p:nvSpPr>
        <p:spPr>
          <a:xfrm>
            <a:off x="6342544" y="1653436"/>
            <a:ext cx="4434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Yellow Cab </a:t>
            </a:r>
            <a:r>
              <a:rPr lang="en-US" dirty="0"/>
              <a:t>Company also covered more customers on almost all cities.</a:t>
            </a:r>
          </a:p>
        </p:txBody>
      </p:sp>
    </p:spTree>
    <p:extLst>
      <p:ext uri="{BB962C8B-B14F-4D97-AF65-F5344CB8AC3E}">
        <p14:creationId xmlns:p14="http://schemas.microsoft.com/office/powerpoint/2010/main" val="64726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526" y="365125"/>
            <a:ext cx="10515600" cy="1325563"/>
          </a:xfrm>
        </p:spPr>
        <p:txBody>
          <a:bodyPr/>
          <a:lstStyle/>
          <a:p>
            <a:r>
              <a:rPr lang="es-CO" dirty="0"/>
              <a:t>                     </a:t>
            </a:r>
            <a:r>
              <a:rPr lang="es-CO" dirty="0" err="1"/>
              <a:t>Profit</a:t>
            </a:r>
            <a:r>
              <a:rPr lang="es-CO" dirty="0"/>
              <a:t> </a:t>
            </a:r>
            <a:r>
              <a:rPr lang="es-CO" dirty="0" err="1"/>
              <a:t>Analysis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B721060-9C07-4991-AE11-D844F6A1FB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608" t="56825" r="43912" b="5714"/>
          <a:stretch/>
        </p:blipFill>
        <p:spPr>
          <a:xfrm>
            <a:off x="6474915" y="2572417"/>
            <a:ext cx="4703521" cy="388799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24BC2AF-7036-48E8-9EB9-C7B538A92F8C}"/>
              </a:ext>
            </a:extLst>
          </p:cNvPr>
          <p:cNvSpPr txBox="1"/>
          <p:nvPr/>
        </p:nvSpPr>
        <p:spPr>
          <a:xfrm flipH="1">
            <a:off x="6957943" y="1402137"/>
            <a:ext cx="37625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 err="1"/>
              <a:t>Yellow</a:t>
            </a:r>
            <a:r>
              <a:rPr lang="es-CO" dirty="0"/>
              <a:t> </a:t>
            </a:r>
            <a:r>
              <a:rPr lang="es-CO" dirty="0" err="1"/>
              <a:t>Cab</a:t>
            </a:r>
            <a:r>
              <a:rPr lang="es-CO" dirty="0"/>
              <a:t> </a:t>
            </a:r>
            <a:r>
              <a:rPr lang="es-CO" dirty="0" err="1"/>
              <a:t>showed</a:t>
            </a:r>
            <a:r>
              <a:rPr lang="es-CO" dirty="0"/>
              <a:t> a </a:t>
            </a:r>
            <a:r>
              <a:rPr lang="es-CO" dirty="0" err="1"/>
              <a:t>higher</a:t>
            </a:r>
            <a:r>
              <a:rPr lang="es-CO" dirty="0"/>
              <a:t> </a:t>
            </a:r>
            <a:r>
              <a:rPr lang="es-CO" dirty="0" err="1"/>
              <a:t>profit</a:t>
            </a:r>
            <a:r>
              <a:rPr lang="es-CO" dirty="0"/>
              <a:t> </a:t>
            </a:r>
            <a:r>
              <a:rPr lang="es-CO" dirty="0" err="1"/>
              <a:t>on</a:t>
            </a:r>
            <a:r>
              <a:rPr lang="es-CO" dirty="0"/>
              <a:t> </a:t>
            </a:r>
            <a:r>
              <a:rPr lang="es-CO" dirty="0" err="1"/>
              <a:t>all</a:t>
            </a:r>
            <a:r>
              <a:rPr lang="es-CO" dirty="0"/>
              <a:t> </a:t>
            </a:r>
            <a:r>
              <a:rPr lang="es-CO" dirty="0" err="1"/>
              <a:t>years</a:t>
            </a:r>
            <a:r>
              <a:rPr lang="es-CO" dirty="0"/>
              <a:t>, </a:t>
            </a:r>
            <a:r>
              <a:rPr lang="es-CO" dirty="0" err="1"/>
              <a:t>with</a:t>
            </a:r>
            <a:r>
              <a:rPr lang="es-CO" dirty="0"/>
              <a:t> a </a:t>
            </a:r>
            <a:r>
              <a:rPr lang="es-CO" dirty="0" err="1"/>
              <a:t>statistically</a:t>
            </a:r>
            <a:r>
              <a:rPr lang="es-CO" dirty="0"/>
              <a:t> </a:t>
            </a:r>
            <a:r>
              <a:rPr lang="es-CO" dirty="0" err="1"/>
              <a:t>significant</a:t>
            </a:r>
            <a:r>
              <a:rPr lang="es-CO" dirty="0"/>
              <a:t> </a:t>
            </a:r>
            <a:r>
              <a:rPr lang="es-CO" dirty="0" err="1"/>
              <a:t>difference</a:t>
            </a:r>
            <a:r>
              <a:rPr lang="es-CO" dirty="0"/>
              <a:t> </a:t>
            </a:r>
            <a:r>
              <a:rPr lang="es-CO" dirty="0" err="1"/>
              <a:t>from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mean </a:t>
            </a:r>
            <a:r>
              <a:rPr lang="es-CO" dirty="0" err="1"/>
              <a:t>of</a:t>
            </a:r>
            <a:r>
              <a:rPr lang="es-CO" dirty="0"/>
              <a:t> Pink </a:t>
            </a:r>
            <a:r>
              <a:rPr lang="es-CO" dirty="0" err="1"/>
              <a:t>Cab</a:t>
            </a:r>
            <a:endParaRPr lang="es-CO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4D9088B-6193-4508-8D0D-7F18E3A8E2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664" t="47014" r="44085" b="11412"/>
          <a:stretch/>
        </p:blipFill>
        <p:spPr>
          <a:xfrm>
            <a:off x="530537" y="2055813"/>
            <a:ext cx="4703521" cy="435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95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</a:t>
            </a:r>
            <a:r>
              <a:rPr lang="es-CO" dirty="0" err="1"/>
              <a:t>Profit</a:t>
            </a:r>
            <a:r>
              <a:rPr lang="es-CO" dirty="0"/>
              <a:t> </a:t>
            </a:r>
            <a:r>
              <a:rPr lang="es-CO" dirty="0" err="1"/>
              <a:t>Margin</a:t>
            </a:r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B854DB-93F3-43D2-BF3E-5B103ACDD4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625" t="45983" r="43564" b="16543"/>
          <a:stretch/>
        </p:blipFill>
        <p:spPr>
          <a:xfrm>
            <a:off x="6388100" y="2055813"/>
            <a:ext cx="5334000" cy="43545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04E2325-36A1-41B1-9212-E9898CE974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625" t="60261" r="43870" b="3723"/>
          <a:stretch/>
        </p:blipFill>
        <p:spPr>
          <a:xfrm>
            <a:off x="558800" y="2104932"/>
            <a:ext cx="5422900" cy="430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063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8F2811-B8B2-451B-AF31-7E892F57C4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727" t="52780" r="42292" b="15540"/>
          <a:stretch/>
        </p:blipFill>
        <p:spPr>
          <a:xfrm>
            <a:off x="596214" y="1908458"/>
            <a:ext cx="4928285" cy="325381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4621EC1-17E1-42EA-B753-1656756245F4}"/>
              </a:ext>
            </a:extLst>
          </p:cNvPr>
          <p:cNvSpPr txBox="1"/>
          <p:nvPr/>
        </p:nvSpPr>
        <p:spPr>
          <a:xfrm>
            <a:off x="6096000" y="1863802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can be seen, the margin increases proportionally to the increase in the number of customers (Hypothesis 3)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39541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</a:t>
            </a:r>
            <a:r>
              <a:rPr lang="es-CO" sz="4000" dirty="0"/>
              <a:t>                     </a:t>
            </a:r>
            <a:r>
              <a:rPr lang="es-CO" sz="4000" dirty="0" err="1"/>
              <a:t>Customer</a:t>
            </a:r>
            <a:r>
              <a:rPr lang="es-CO" sz="4000" dirty="0"/>
              <a:t> </a:t>
            </a:r>
            <a:r>
              <a:rPr lang="es-CO" sz="4000" dirty="0" err="1"/>
              <a:t>Attributes</a:t>
            </a:r>
            <a:r>
              <a:rPr lang="es-CO" sz="4000" dirty="0"/>
              <a:t> (</a:t>
            </a:r>
            <a:r>
              <a:rPr lang="es-CO" sz="4000" dirty="0" err="1"/>
              <a:t>Hypothesis</a:t>
            </a:r>
            <a:r>
              <a:rPr lang="es-CO" sz="4000" dirty="0"/>
              <a:t> 4</a:t>
            </a:r>
            <a:r>
              <a:rPr lang="es-CO" dirty="0"/>
              <a:t>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46A5BF-08F8-4B55-B75D-5C84228E19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822" t="44746" r="42569" b="13407"/>
          <a:stretch/>
        </p:blipFill>
        <p:spPr>
          <a:xfrm>
            <a:off x="701457" y="2055813"/>
            <a:ext cx="4697261" cy="415317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4C72AF9-E754-4B22-9A9F-F81D9D81C8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616" t="46025" r="42671" b="11214"/>
          <a:stretch/>
        </p:blipFill>
        <p:spPr>
          <a:xfrm>
            <a:off x="6271719" y="2055813"/>
            <a:ext cx="4614641" cy="415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01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DB4B657-5F15-49C9-BFC3-08F1EF1090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649" t="49170" r="42857" b="18319"/>
          <a:stretch/>
        </p:blipFill>
        <p:spPr>
          <a:xfrm>
            <a:off x="273714" y="1891107"/>
            <a:ext cx="5677048" cy="391697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0C2C9B4-D585-4B33-AF17-F463E06513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619" t="52867" r="42877" b="14608"/>
          <a:stretch/>
        </p:blipFill>
        <p:spPr>
          <a:xfrm>
            <a:off x="6241238" y="1891106"/>
            <a:ext cx="5677048" cy="391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64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</a:t>
            </a:r>
            <a:r>
              <a:rPr lang="es-CO" sz="4000" dirty="0"/>
              <a:t>           </a:t>
            </a:r>
            <a:r>
              <a:rPr lang="es-CO" sz="4000" dirty="0" err="1"/>
              <a:t>Exploring</a:t>
            </a:r>
            <a:r>
              <a:rPr lang="es-CO" sz="4000" dirty="0"/>
              <a:t> KM </a:t>
            </a:r>
            <a:r>
              <a:rPr lang="es-CO" sz="4000" dirty="0" err="1"/>
              <a:t>Travelled</a:t>
            </a:r>
            <a:r>
              <a:rPr lang="es-CO" sz="4000" dirty="0"/>
              <a:t> and </a:t>
            </a:r>
            <a:r>
              <a:rPr lang="es-CO" sz="4000" dirty="0" err="1"/>
              <a:t>Profit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F75BFF-1E79-47AC-8D05-ECCAC03A4B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616" t="48401" r="44623" b="14320"/>
          <a:stretch/>
        </p:blipFill>
        <p:spPr>
          <a:xfrm>
            <a:off x="3352799" y="1957801"/>
            <a:ext cx="4511538" cy="381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76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384EFF-1B65-4C2E-9D40-3733269A7A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616" t="53992" r="43082" b="13954"/>
          <a:stretch/>
        </p:blipFill>
        <p:spPr>
          <a:xfrm>
            <a:off x="501239" y="1660999"/>
            <a:ext cx="7051956" cy="483187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C5ECAE5-2798-4CDB-8858-BBEBFB968545}"/>
              </a:ext>
            </a:extLst>
          </p:cNvPr>
          <p:cNvSpPr txBox="1"/>
          <p:nvPr/>
        </p:nvSpPr>
        <p:spPr>
          <a:xfrm>
            <a:off x="8131354" y="1690688"/>
            <a:ext cx="34223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case, the slope for the Yellow Cab Company predicts a higher profit for each increase in KM Travelled than the slope for the Pink Cab Company.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55685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     EDA </a:t>
            </a:r>
            <a:r>
              <a:rPr lang="es-CO" dirty="0" err="1"/>
              <a:t>Summary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637F4A-BCCF-4FEA-A411-D438D8477D65}"/>
              </a:ext>
            </a:extLst>
          </p:cNvPr>
          <p:cNvSpPr txBox="1"/>
          <p:nvPr/>
        </p:nvSpPr>
        <p:spPr>
          <a:xfrm>
            <a:off x="1027332" y="2325467"/>
            <a:ext cx="92189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Yellow Cab </a:t>
            </a:r>
            <a:r>
              <a:rPr lang="en-US" dirty="0"/>
              <a:t>Company covered more customers on all years, and on almost all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Yellow Cab showed a higher profit on all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Yellow Cab showed a higher profit margin on all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profit  margin increases proportionally to the increase in the number of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both Companies, most Customers were Male, and used Card as their payment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Customers were between 20 and 40 years, with Incomes varying primarily from 2000 to 25000 USD.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Yellow Cab travelled more KM, and their predicted Profit from each KM Travelled is higher than the Pink Cab´s.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325407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3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41DC996-1A4B-4D4F-A733-3A00E5ABC2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332" y="0"/>
            <a:ext cx="2325467" cy="2325467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3CA1F87-7D66-495A-A0BF-67EDA0C03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                         </a:t>
            </a:r>
            <a:r>
              <a:rPr lang="es-CO" dirty="0" err="1"/>
              <a:t>Recommendations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637F4A-BCCF-4FEA-A411-D438D8477D65}"/>
              </a:ext>
            </a:extLst>
          </p:cNvPr>
          <p:cNvSpPr txBox="1"/>
          <p:nvPr/>
        </p:nvSpPr>
        <p:spPr>
          <a:xfrm>
            <a:off x="1027332" y="2521059"/>
            <a:ext cx="92189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From the previous EDA, we can accurately say that Yellow Cab has attended more users, has a higher profit and profit margin, has a higher predicted profit for each KM Travelled, and thus should be the best choice for investment.</a:t>
            </a:r>
          </a:p>
        </p:txBody>
      </p:sp>
    </p:spTree>
    <p:extLst>
      <p:ext uri="{BB962C8B-B14F-4D97-AF65-F5344CB8AC3E}">
        <p14:creationId xmlns:p14="http://schemas.microsoft.com/office/powerpoint/2010/main" val="1630192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F26E-9345-4747-9094-972E38700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5400000">
            <a:off x="-562431" y="562430"/>
            <a:ext cx="6858002" cy="5733142"/>
          </a:xfrm>
          <a:solidFill>
            <a:srgbClr val="3B3B3B"/>
          </a:solidFill>
        </p:spPr>
        <p:txBody>
          <a:bodyPr vert="vert270" anchor="t" anchorCtr="0"/>
          <a:lstStyle/>
          <a:p>
            <a:endParaRPr lang="en-US" b="1" dirty="0">
              <a:solidFill>
                <a:srgbClr val="FF66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65064-0714-5743-882B-8875105A702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3771"/>
            <a:ext cx="1654627" cy="994232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2D4BA697-580E-5544-8F2F-194AD99B8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2570" y="2481943"/>
            <a:ext cx="5558973" cy="1655762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rgbClr val="FF6600"/>
                </a:solidFill>
              </a:rPr>
              <a:t>Thank You</a:t>
            </a:r>
          </a:p>
          <a:p>
            <a:endParaRPr lang="en-US" sz="6600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21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ta Glacier Internship" id="{2B17C0A9-4F1A-394C-9305-82F12CA26E4F}" vid="{F9955FDF-826E-7C4D-B52C-017E9540C8B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Glacier Internship</Template>
  <TotalTime>15139</TotalTime>
  <Words>613</Words>
  <Application>Microsoft Office PowerPoint</Application>
  <PresentationFormat>Panorámica</PresentationFormat>
  <Paragraphs>68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Lato Extended</vt:lpstr>
      <vt:lpstr>Tema de Office</vt:lpstr>
      <vt:lpstr>Presentación de PowerPoint</vt:lpstr>
      <vt:lpstr>   Agenda</vt:lpstr>
      <vt:lpstr>                     Executive Summary</vt:lpstr>
      <vt:lpstr>                     Problem Statement</vt:lpstr>
      <vt:lpstr>                     Approach</vt:lpstr>
      <vt:lpstr>                     Hypotheses</vt:lpstr>
      <vt:lpstr>                     Analyses</vt:lpstr>
      <vt:lpstr>                     EDA (Exploring data)</vt:lpstr>
      <vt:lpstr>                     EDA (Exploring data)</vt:lpstr>
      <vt:lpstr>Presentación de PowerPoint</vt:lpstr>
      <vt:lpstr>                     Profit Analysis</vt:lpstr>
      <vt:lpstr>                     Profit Margin</vt:lpstr>
      <vt:lpstr>                     </vt:lpstr>
      <vt:lpstr>                       Customer Attributes (Hypothesis 4)</vt:lpstr>
      <vt:lpstr>                     </vt:lpstr>
      <vt:lpstr>                     Exploring KM Travelled and Profit</vt:lpstr>
      <vt:lpstr>                     </vt:lpstr>
      <vt:lpstr>                          EDA Summary</vt:lpstr>
      <vt:lpstr>                         Recommendations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Camilo Andres Arrieta Caycedo</dc:creator>
  <cp:lastModifiedBy>Camilo Andres Arrieta Caycedo</cp:lastModifiedBy>
  <cp:revision>26</cp:revision>
  <dcterms:created xsi:type="dcterms:W3CDTF">2021-02-25T13:04:25Z</dcterms:created>
  <dcterms:modified xsi:type="dcterms:W3CDTF">2021-03-08T01:23:57Z</dcterms:modified>
</cp:coreProperties>
</file>